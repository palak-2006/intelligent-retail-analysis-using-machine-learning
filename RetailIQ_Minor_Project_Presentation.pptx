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4311B2-2054-47D2-A1C2-14656F6B4BCB}" v="5" dt="2026-09-05T14:10:07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19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 goyal" userId="49f0abaf3a944cff" providerId="LiveId" clId="{01290C23-79AA-448A-9CEF-EDAF9DCD182F}"/>
    <pc:docChg chg="undo custSel modSld">
      <pc:chgData name="palak goyal" userId="49f0abaf3a944cff" providerId="LiveId" clId="{01290C23-79AA-448A-9CEF-EDAF9DCD182F}" dt="2026-09-05T14:10:07.279" v="117"/>
      <pc:docMkLst>
        <pc:docMk/>
      </pc:docMkLst>
      <pc:sldChg chg="modSp mod">
        <pc:chgData name="palak goyal" userId="49f0abaf3a944cff" providerId="LiveId" clId="{01290C23-79AA-448A-9CEF-EDAF9DCD182F}" dt="2026-09-05T06:09:05.758" v="107" actId="255"/>
        <pc:sldMkLst>
          <pc:docMk/>
          <pc:sldMk cId="0" sldId="256"/>
        </pc:sldMkLst>
        <pc:spChg chg="mod">
          <ac:chgData name="palak goyal" userId="49f0abaf3a944cff" providerId="LiveId" clId="{01290C23-79AA-448A-9CEF-EDAF9DCD182F}" dt="2026-09-05T06:08:38.191" v="10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lak goyal" userId="49f0abaf3a944cff" providerId="LiveId" clId="{01290C23-79AA-448A-9CEF-EDAF9DCD182F}" dt="2026-09-05T06:09:05.758" v="107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alak goyal" userId="49f0abaf3a944cff" providerId="LiveId" clId="{01290C23-79AA-448A-9CEF-EDAF9DCD182F}" dt="2026-09-05T14:10:07.279" v="117"/>
        <pc:sldMkLst>
          <pc:docMk/>
          <pc:sldMk cId="0" sldId="259"/>
        </pc:sldMkLst>
        <pc:spChg chg="mod">
          <ac:chgData name="palak goyal" userId="49f0abaf3a944cff" providerId="LiveId" clId="{01290C23-79AA-448A-9CEF-EDAF9DCD182F}" dt="2026-09-05T14:10:07.279" v="117"/>
          <ac:spMkLst>
            <pc:docMk/>
            <pc:sldMk cId="0" sldId="259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7680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233C"/>
                </a:solidFill>
                <a:latin typeface="Arial"/>
              </a:defRPr>
            </a:pPr>
            <a:r>
              <a:rPr dirty="0"/>
              <a:t>RETAILIQ: INTELLIGENT RETAIL ANALYSIS USING MACHINE LEARNING</a:t>
            </a:r>
          </a:p>
          <a:p>
            <a:pPr algn="ctr">
              <a:defRPr sz="1200" i="1">
                <a:solidFill>
                  <a:srgbClr val="64748B"/>
                </a:solidFill>
                <a:latin typeface="Arial"/>
              </a:defRPr>
            </a:pPr>
            <a:endParaRPr lang="en-IN" dirty="0"/>
          </a:p>
          <a:p>
            <a:pPr algn="ctr">
              <a:defRPr sz="1200" i="1">
                <a:solidFill>
                  <a:srgbClr val="64748B"/>
                </a:solidFill>
                <a:latin typeface="Arial"/>
              </a:defRPr>
            </a:pPr>
            <a:r>
              <a:rPr dirty="0"/>
              <a:t>A Machine Learning Platform for Customer Segmentation, Product Affinity &amp; Demand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173309"/>
            <a:ext cx="6400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rPr sz="1600" dirty="0"/>
              <a:t>Submitted by:</a:t>
            </a:r>
          </a:p>
          <a:p>
            <a:pPr algn="ctr">
              <a:defRPr sz="1200">
                <a:solidFill>
                  <a:srgbClr val="232D3C"/>
                </a:solidFill>
              </a:defRPr>
            </a:pPr>
            <a:r>
              <a:rPr lang="en-IN" sz="1600" dirty="0"/>
              <a:t>Palak Goyal</a:t>
            </a:r>
            <a:r>
              <a:rPr sz="1600" dirty="0"/>
              <a:t>(Er No.: </a:t>
            </a:r>
            <a:r>
              <a:rPr lang="en-IN" sz="1600" dirty="0"/>
              <a:t>241B166</a:t>
            </a:r>
            <a:r>
              <a:rPr sz="1600" dirty="0"/>
              <a:t>)</a:t>
            </a:r>
          </a:p>
          <a:p>
            <a:pPr algn="ctr">
              <a:defRPr sz="1200">
                <a:solidFill>
                  <a:srgbClr val="232D3C"/>
                </a:solidFill>
              </a:defRPr>
            </a:pPr>
            <a:r>
              <a:rPr lang="en-IN" sz="1600" dirty="0"/>
              <a:t>Shanvi Gupta</a:t>
            </a:r>
            <a:r>
              <a:rPr sz="1600" dirty="0"/>
              <a:t> (Er No.: </a:t>
            </a:r>
            <a:r>
              <a:rPr lang="en-IN" sz="1600" dirty="0"/>
              <a:t>241B234</a:t>
            </a:r>
            <a:r>
              <a:rPr sz="1600" dirty="0"/>
              <a:t>)</a:t>
            </a:r>
          </a:p>
          <a:p>
            <a:pPr algn="ctr">
              <a:defRPr sz="1200">
                <a:solidFill>
                  <a:srgbClr val="232D3C"/>
                </a:solidFill>
              </a:defRPr>
            </a:pPr>
            <a:r>
              <a:rPr lang="en-IN" sz="1600" dirty="0"/>
              <a:t>Sheetal Kushwah</a:t>
            </a:r>
            <a:r>
              <a:rPr sz="1600" dirty="0"/>
              <a:t> (Er No.: </a:t>
            </a:r>
            <a:r>
              <a:rPr lang="en-IN" sz="1600" dirty="0"/>
              <a:t>241B238</a:t>
            </a:r>
            <a:r>
              <a:rPr sz="1600" dirty="0"/>
              <a:t>)</a:t>
            </a:r>
          </a:p>
          <a:p>
            <a:br>
              <a:rPr sz="1600" dirty="0"/>
            </a:br>
            <a:r>
              <a:rPr sz="1600" dirty="0"/>
              <a:t>Under the supervision of:</a:t>
            </a:r>
          </a:p>
          <a:p>
            <a:pPr algn="ctr">
              <a:defRPr sz="1200">
                <a:solidFill>
                  <a:srgbClr val="232D3C"/>
                </a:solidFill>
              </a:defRPr>
            </a:pPr>
            <a:r>
              <a:rPr sz="1600" dirty="0"/>
              <a:t>Prof. / Dr. [Guide Name], Department of CSE</a:t>
            </a:r>
          </a:p>
        </p:txBody>
      </p:sp>
      <p:pic>
        <p:nvPicPr>
          <p:cNvPr id="4" name="Picture 3" descr="page_0_0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4434840"/>
            <a:ext cx="1188720" cy="1411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035040"/>
            <a:ext cx="2194560" cy="822960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94560" y="6035040"/>
            <a:ext cx="6949440" cy="822960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  <a:latin typeface="Arial"/>
              </a:defRPr>
            </a:pPr>
            <a:r>
              <a:t>Jaypee University of Engineering &amp; Technology, Guna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Table of Contents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33C"/>
                </a:solidFill>
              </a:defRPr>
            </a:pPr>
            <a:r>
              <a:t>1. Introduction (Overview &amp; Objectives)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</a:defRPr>
            </a:pPr>
            <a:r>
              <a:t>2. Problem Statement (Definition &amp; Business Significance)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</a:defRPr>
            </a:pPr>
            <a:r>
              <a:t>3. Literature Review (Prior Research &amp; Identified Gaps)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</a:defRPr>
            </a:pPr>
            <a:r>
              <a:t>4. Work Plan (Weekly Milestones &amp; Schedule Alignment)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</a:defRPr>
            </a:pPr>
            <a:r>
              <a:t>5. Individual Contribution (Role Allocation &amp; Specific Tasks)</a:t>
            </a:r>
          </a:p>
          <a:p>
            <a:pPr>
              <a:spcAft>
                <a:spcPts val="800"/>
              </a:spcAft>
              <a:defRPr sz="1400" b="1">
                <a:solidFill>
                  <a:srgbClr val="14233C"/>
                </a:solidFill>
              </a:defRPr>
            </a:pPr>
            <a:r>
              <a:t>6. Work Done So Far (Dataset, Architecture, ML Results &amp; UI)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</a:defRPr>
            </a:pPr>
            <a:r>
              <a:t>7. Work to be Done (Remaining Tasks &amp; Future Roadmap)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</a:defRPr>
            </a:pPr>
            <a:r>
              <a:t>8. Conclusion (Summary &amp; Expected Impact)</a:t>
            </a:r>
          </a:p>
          <a:p>
            <a:pPr>
              <a:spcAft>
                <a:spcPts val="800"/>
              </a:spcAft>
              <a:defRPr sz="1400" b="1">
                <a:solidFill>
                  <a:srgbClr val="14233C"/>
                </a:solidFill>
              </a:defRPr>
            </a:pPr>
            <a:r>
              <a:t>9. References (IEEE Standard Citations)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1. Introduction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7235"/>
                </a:solidFill>
              </a:defRPr>
            </a:pPr>
            <a:r>
              <a:rPr dirty="0"/>
              <a:t>Project Overview</a:t>
            </a:r>
          </a:p>
          <a:p>
            <a:pPr>
              <a:spcAft>
                <a:spcPts val="1400"/>
              </a:spcAft>
              <a:defRPr sz="1300">
                <a:solidFill>
                  <a:srgbClr val="232D3C"/>
                </a:solidFill>
              </a:defRPr>
            </a:pPr>
            <a:r>
              <a:rPr dirty="0"/>
              <a:t>• Modern retail businesses generate millions of multi-channel transactional records daily.</a:t>
            </a:r>
            <a:br>
              <a:rPr dirty="0"/>
            </a:br>
            <a:r>
              <a:rPr dirty="0"/>
              <a:t>• </a:t>
            </a:r>
            <a:r>
              <a:rPr dirty="0" err="1"/>
              <a:t>RetailIQ</a:t>
            </a:r>
            <a:r>
              <a:rPr dirty="0"/>
              <a:t> is an end-to-end intelligent retail decision engine that transforms historical sales data into actionable, data-driven strategies.</a:t>
            </a:r>
            <a:br>
              <a:rPr dirty="0"/>
            </a:br>
            <a:r>
              <a:rPr dirty="0"/>
              <a:t>• The platform combines Unsupervised Machine Learning, Association Rule Mining, and Time-Series Demand Forecasting within an interactive web dashboard.</a:t>
            </a:r>
          </a:p>
          <a:p>
            <a:pPr>
              <a:defRPr sz="1600" b="1">
                <a:solidFill>
                  <a:srgbClr val="E27235"/>
                </a:solidFill>
              </a:defRPr>
            </a:pPr>
            <a:r>
              <a:rPr dirty="0"/>
              <a:t>Primary Objectives</a:t>
            </a:r>
          </a:p>
          <a:p>
            <a:pPr>
              <a:spcAft>
                <a:spcPts val="400"/>
              </a:spcAft>
              <a:defRPr sz="1200">
                <a:solidFill>
                  <a:srgbClr val="232D3C"/>
                </a:solidFill>
              </a:defRPr>
            </a:pPr>
            <a:r>
              <a:rPr dirty="0"/>
              <a:t>• 1. Customer Segmentation: Group consumers based on Recency, Frequency, and Monetary (RFM) behavior via K-Means to identify VIP, Loyal, Regular, and At-Risk segments.</a:t>
            </a:r>
          </a:p>
          <a:p>
            <a:pPr>
              <a:spcAft>
                <a:spcPts val="400"/>
              </a:spcAft>
              <a:defRPr sz="1200">
                <a:solidFill>
                  <a:srgbClr val="232D3C"/>
                </a:solidFill>
              </a:defRPr>
            </a:pPr>
            <a:r>
              <a:rPr dirty="0"/>
              <a:t>• 2. Cross-Selling &amp; Recommender Engine: Utilize FP-Growth Association Rule Mining to uncover product affinities and recommend complementary basket bundles.</a:t>
            </a:r>
          </a:p>
          <a:p>
            <a:pPr>
              <a:spcAft>
                <a:spcPts val="400"/>
              </a:spcAft>
              <a:defRPr sz="1200">
                <a:solidFill>
                  <a:srgbClr val="232D3C"/>
                </a:solidFill>
              </a:defRPr>
            </a:pPr>
            <a:r>
              <a:rPr dirty="0"/>
              <a:t>• 3. Predictive Demand Forecasting: Project monthly revenue trajectories and establish 95% confidence bounds to mitigate stockouts and overstocking.</a:t>
            </a:r>
          </a:p>
          <a:p>
            <a:pPr>
              <a:spcAft>
                <a:spcPts val="400"/>
              </a:spcAft>
              <a:defRPr sz="1200">
                <a:solidFill>
                  <a:srgbClr val="232D3C"/>
                </a:solidFill>
              </a:defRPr>
            </a:pPr>
            <a:r>
              <a:rPr dirty="0"/>
              <a:t>• 4. Full-Stack Interactive Deployment: Provide a streamlined </a:t>
            </a:r>
            <a:r>
              <a:rPr dirty="0" err="1"/>
              <a:t>Streamlit</a:t>
            </a:r>
            <a:r>
              <a:rPr dirty="0"/>
              <a:t> dashboard with real-time inference and 3D visual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2. Problem Statement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7235"/>
                </a:solidFill>
              </a:defRPr>
            </a:pPr>
            <a:r>
              <a:rPr dirty="0"/>
              <a:t>Problem Definition</a:t>
            </a:r>
          </a:p>
          <a:p>
            <a:pPr>
              <a:spcAft>
                <a:spcPts val="1400"/>
              </a:spcAft>
              <a:defRPr sz="1300">
                <a:solidFill>
                  <a:srgbClr val="232D3C"/>
                </a:solidFill>
              </a:defRPr>
            </a:pPr>
            <a:r>
              <a:rPr dirty="0"/>
              <a:t>• Inability to Personalize at Scale: Traditional retailers treat all customers uniformly with generic email blasts and flat discounts, causing marketing fatigue and reduced customer retention.</a:t>
            </a:r>
            <a:br>
              <a:rPr dirty="0"/>
            </a:br>
            <a:r>
              <a:rPr dirty="0"/>
              <a:t>• Inefficient Inventory &amp; Static Demand Planning: Inaccurate demand forecasting leads to expensive stockouts during peak seasons and capital-locking surplus inventory.</a:t>
            </a:r>
            <a:br>
              <a:rPr dirty="0"/>
            </a:br>
            <a:r>
              <a:rPr dirty="0"/>
              <a:t>• Missed Cross-Sell Opportunities: Lack of basket-level affinity analysis prevents merchandisers from creating smart item bundles that increase Average Order Value (AOV).</a:t>
            </a:r>
          </a:p>
          <a:p>
            <a:pPr>
              <a:defRPr sz="1600" b="1">
                <a:solidFill>
                  <a:srgbClr val="E27235"/>
                </a:solidFill>
              </a:defRPr>
            </a:pPr>
            <a:r>
              <a:rPr dirty="0"/>
              <a:t>Why Solving This Problem Is Important</a:t>
            </a:r>
          </a:p>
          <a:p>
            <a:pPr>
              <a:spcAft>
                <a:spcPts val="600"/>
              </a:spcAft>
              <a:defRPr sz="1300">
                <a:solidFill>
                  <a:srgbClr val="232D3C"/>
                </a:solidFill>
              </a:defRPr>
            </a:pPr>
            <a:r>
              <a:rPr dirty="0"/>
              <a:t>• Revenue &amp; Retention Impact: Acquiring new customers costs 5x more than retaining existing ones; targeted segmentation directly curbs churn.</a:t>
            </a:r>
          </a:p>
          <a:p>
            <a:pPr>
              <a:spcAft>
                <a:spcPts val="600"/>
              </a:spcAft>
              <a:defRPr sz="1300">
                <a:solidFill>
                  <a:srgbClr val="232D3C"/>
                </a:solidFill>
              </a:defRPr>
            </a:pPr>
            <a:r>
              <a:rPr dirty="0"/>
              <a:t>• Margin Preservation: Retailers lose 8-12% of net margins to unsold stock liquidations and misdirected promotional markdowns.</a:t>
            </a:r>
          </a:p>
          <a:p>
            <a:pPr>
              <a:spcAft>
                <a:spcPts val="600"/>
              </a:spcAft>
              <a:defRPr sz="1300">
                <a:solidFill>
                  <a:srgbClr val="232D3C"/>
                </a:solidFill>
              </a:defRPr>
            </a:pPr>
            <a:r>
              <a:rPr dirty="0"/>
              <a:t>• Operational Agility: Small-to-medium retail enterprises (SMEs) need lightweight, deployable ML tools without multi-million-dollar enterprise software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3. Literature Review (Prior Research)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27235"/>
                </a:solidFill>
              </a:defRPr>
            </a:pPr>
            <a:r>
              <a:t>Key Findings from Previous Research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RFM Analysis in Customer Relationship Management (CRM):</a:t>
            </a:r>
          </a:p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</a:defRPr>
            </a:pPr>
            <a:r>
              <a:t>• Hughes (1994) and Fader et al. (2005) proved that Recency, Frequency, and Monetary parameters are the strongest predictors of future purchase likelihood. Combining RFM with clustering algorithms creates data-driven behavioral personas.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Association Rule Mining for Basket Intelligence:</a:t>
            </a:r>
          </a:p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</a:defRPr>
            </a:pPr>
            <a:r>
              <a:t>• Agrawal et al. (1993) introduced the Apriori algorithm for market basket analysis. Later research by Han et al. (2000) established FP-Growth as a tree-based, memory-efficient alternative that avoids costly repeated database passes.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Time-Series &amp; Demand Forecasting in Retail:</a:t>
            </a:r>
          </a:p>
          <a:p>
            <a:pPr>
              <a:spcAft>
                <a:spcPts val="800"/>
              </a:spcAft>
              <a:defRPr sz="1200">
                <a:solidFill>
                  <a:srgbClr val="232D3C"/>
                </a:solidFill>
              </a:defRPr>
            </a:pPr>
            <a:r>
              <a:t>• Traditional statistical models (ARIMA, Holt-Winters) provide strong baseline accuracy for stationary demand, but fail to capture shifting trendlines and seasonality variances unless coupled with residual volatility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3. Literature Review (Limitations &amp; Gaps)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27235"/>
                </a:solidFill>
              </a:defRPr>
            </a:pPr>
            <a:r>
              <a:t>Limitations in Existing Retail Solutions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❌ Siloed, Disconnected Modules: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   • Gaps addressed in RetailIQ: Most existing implementations treat clustering, recommendation, and forecasting as completely separate research papers, without unified business workflows.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❌ Lack of Real-Time Model Inference: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   • Gaps addressed in RetailIQ: Standard implementations stop at static Jupyter Notebook plots. There is no active inference pipeline where a store manager can input new customer values to receive instantaneous classification.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❌ Computational Inefficiency of Apriori: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   • Gaps addressed in RetailIQ: Many legacy retail systems rely on brute-force Apriori, which encounters severe memory bottlenecks on large transaction volumes.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❌ Absence of Actionable Prescriptions: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   • Gaps addressed in RetailIQ: Academic studies report silhouette scores or lift values, but fail to translate findings into concrete retail strategies (e.g. win-back coupons vs. loyalty multipliers).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4. Work Plan &amp; Schedule Alignment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Milestone / Work Scheduled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Literature review, dataset acquisition (Online Retail II &amp; Superstore), and initial exploratory analysis.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Week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Data cleaning pipeline, cancellation filtering, duplicate removal, and RFM feature engineering.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K-Means model development, Elbow method, Silhouette score optimization, and business persona mapping.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Week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Market Basket Analysis implementation using FP-Growth, metric rule mining (Lift, Confidence, Support).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Week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Time-series monthly demand aggregation, trendline forecasting, and 95% confidence intervals.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Week 7-8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Streamlit multi-page web platform, 3D Plotly visual integration, and viva presentation preparation.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5. Individual Contribution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Member Name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Enrollment No.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Assigned Contribution &amp; Modules Owned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Student 1 (Lead)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211B001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• Data Cleaning &amp; Sanitization pipeline (src/preprocessing.py)</a:t>
                      </a:r>
                      <a:br/>
                      <a:r>
                        <a:t>• RFM Feature Engineering &amp; Outlier treatment</a:t>
                      </a:r>
                      <a:br/>
                      <a:r>
                        <a:t>• K-Means Clustering model training (k=4) &amp; Silhouette optimization</a:t>
                      </a:r>
                      <a:br/>
                      <a:r>
                        <a:t>• Persona mapping &amp; model serialization (models/customer_segmentation_kmeans.pkl)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Student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211B002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• Market Basket Analysis using FP-Growth (src/recommendation.py)</a:t>
                      </a:r>
                      <a:br/>
                      <a:r>
                        <a:t>• Association rules mining (Support, Confidence, Lift thresholding)</a:t>
                      </a:r>
                      <a:br/>
                      <a:r>
                        <a:t>• Monthly time-series sales aggregation &amp; demand modeling (src/forecasting.py)</a:t>
                      </a:r>
                      <a:br/>
                      <a:r>
                        <a:t>• Construction of dynamic 95% forecast confidence interval ribbons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Student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211B003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• Full-stack Streamlit web platform architecture &amp; state caching (app.py)</a:t>
                      </a:r>
                      <a:br/>
                      <a:r>
                        <a:t>• Interactive 3D RFM cluster &amp; forecast Plotly visualizers (src/utils.py)</a:t>
                      </a:r>
                      <a:br/>
                      <a:r>
                        <a:t>• High-fidelity Neomorphic UI system design &amp; HTML/CSS prototypes (frontend/)</a:t>
                      </a:r>
                      <a:br/>
                      <a:r>
                        <a:t>• Business margin &amp; profit intelligence analysis on Superstore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6. Work Done So Far: Dataset &amp; Preprocessing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27235"/>
                </a:solidFill>
              </a:defRPr>
            </a:pPr>
            <a:r>
              <a:t>Dataset Details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• Primary Dataset: Online Retail II (UCI Repository)</a:t>
            </a:r>
            <a:br/>
            <a:r>
              <a:t>  - Multi-year records (2009 - 2011)</a:t>
            </a:r>
            <a:br/>
            <a:r>
              <a:t>  - ~800,000+ raw transactional rows</a:t>
            </a:r>
            <a:br/>
            <a:r>
              <a:t>  - Features: Invoice, StockCode, Description, Quantity, InvoiceDate, Price, Customer ID, Country.</a:t>
            </a:r>
            <a:br/>
            <a:r>
              <a:t>• Secondary Dataset: Sample - Superstore (9,994 orders) for profitability &amp; discount analytics.</a:t>
            </a:r>
          </a:p>
          <a:p>
            <a:pPr>
              <a:defRPr sz="1500" b="1">
                <a:solidFill>
                  <a:srgbClr val="E27235"/>
                </a:solidFill>
              </a:defRPr>
            </a:pPr>
            <a:r>
              <a:t>Data Sanitization Pipeline</a:t>
            </a:r>
          </a:p>
          <a:p>
            <a:pPr>
              <a:defRPr sz="1200">
                <a:solidFill>
                  <a:srgbClr val="232D3C"/>
                </a:solidFill>
              </a:defRPr>
            </a:pPr>
            <a:r>
              <a:t>• Cancellation Filtering: Invoices starting with 'C' removed.</a:t>
            </a:r>
            <a:br/>
            <a:r>
              <a:t>• Integrity Validation: Dropped null Customer IDs and non-positive prices/quantities.</a:t>
            </a:r>
            <a:br/>
            <a:r>
              <a:t>• RFM Calculation: Recency (days), Frequency (unique orders), Monetary (total spend).</a:t>
            </a:r>
            <a:br/>
            <a:r>
              <a:t>• Outlier Trimming: 1% &amp; 99% percentile clipping.</a:t>
            </a:r>
          </a:p>
        </p:txBody>
      </p:sp>
      <p:pic>
        <p:nvPicPr>
          <p:cNvPr id="7" name="Picture 6" descr="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393192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6. Work Done So Far: System Architecture &amp; UML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27235"/>
                </a:solidFill>
              </a:defRPr>
            </a:pPr>
            <a:r>
              <a:t>Architectural Flow &amp; Component Interaction</a:t>
            </a:r>
          </a:p>
          <a:p>
            <a:pPr>
              <a:defRPr sz="1200">
                <a:solidFill>
                  <a:srgbClr val="232D3C"/>
                </a:solidFill>
              </a:defRPr>
            </a:pPr>
            <a:r>
              <a:t>• Modular Design: Decoupled ETL (preprocessing.py), ML engines (segmentation.py, recommendation.py, forecasting.py), and Presentation UI (app.py).</a:t>
            </a:r>
            <a:br/>
            <a:r>
              <a:t>• Pipeline Flow: Raw Ingestion ➔ Sanitization &amp; Outlier Clipping ➔ RFM &amp; Itemset Mining ➔ Serialized Artifacts ➔ Streamlit Web Dashboard.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26080"/>
            <a:ext cx="76809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6. Work Done So Far: ML Methodology &amp; Results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C"/>
                </a:solidFill>
              </a:defRPr>
            </a:pPr>
            <a:r>
              <a:t>1. RFM K-Means Clustering (k=4)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</a:defRPr>
            </a:pPr>
            <a:r>
              <a:t>• Features scaled via StandardScaler.</a:t>
            </a:r>
            <a:br/>
            <a:r>
              <a:t>• Silhouette Score = 0.44 confirming distinct separation.</a:t>
            </a:r>
            <a:br/>
            <a:r>
              <a:t>• Identified 4 Actionable Personas:</a:t>
            </a:r>
            <a:br/>
            <a:r>
              <a:t>  - VIP: Top spend, high frequency.</a:t>
            </a:r>
            <a:br/>
            <a:r>
              <a:t>  - Loyal: Consistent repeat purchases.</a:t>
            </a:r>
            <a:br/>
            <a:r>
              <a:t>  - Regular: Moderate engagement.</a:t>
            </a:r>
            <a:br/>
            <a:r>
              <a:t>  - At-Risk: Long recency (churn risk).</a:t>
            </a:r>
          </a:p>
          <a:p>
            <a:pPr>
              <a:defRPr sz="1400" b="1">
                <a:solidFill>
                  <a:srgbClr val="14233C"/>
                </a:solidFill>
              </a:defRPr>
            </a:pPr>
            <a:r>
              <a:t>2. FP-Growth Market Basket Analysis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</a:defRPr>
            </a:pPr>
            <a:r>
              <a:t>• Filtered for Lift &gt; 1.2 and Confidence &gt; 30%.</a:t>
            </a:r>
            <a:br/>
            <a:r>
              <a:t>• Automatically discovers complementary products for checkout cross-sell bundles.</a:t>
            </a:r>
          </a:p>
          <a:p>
            <a:pPr>
              <a:defRPr sz="1400" b="1">
                <a:solidFill>
                  <a:srgbClr val="14233C"/>
                </a:solidFill>
              </a:defRPr>
            </a:pPr>
            <a:r>
              <a:t>3. Demand Trendline Forecasting</a:t>
            </a:r>
          </a:p>
          <a:p>
            <a:pPr>
              <a:defRPr sz="1100">
                <a:solidFill>
                  <a:srgbClr val="232D3C"/>
                </a:solidFill>
              </a:defRPr>
            </a:pPr>
            <a:r>
              <a:t>• Monthly sales trajectory modeled with standard error residual bands (95% CI).</a:t>
            </a:r>
          </a:p>
        </p:txBody>
      </p:sp>
      <p:pic>
        <p:nvPicPr>
          <p:cNvPr id="7" name="Picture 6" descr="rfm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4023360" cy="25864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6. Work Done So Far: Application UI &amp; Features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7235"/>
                </a:solidFill>
              </a:defRPr>
            </a:pPr>
            <a:r>
              <a:t>Streamlit Interactive Platform (app.py)</a:t>
            </a:r>
          </a:p>
          <a:p>
            <a:pPr>
              <a:spcAft>
                <a:spcPts val="600"/>
              </a:spcAft>
              <a:defRPr sz="1100">
                <a:solidFill>
                  <a:srgbClr val="232D3C"/>
                </a:solidFill>
              </a:defRPr>
            </a:pPr>
            <a:r>
              <a:t>• Executive Dashboard: Real-time revenue KPI cards, monthly sales velocity line chart, top 10 best-selling products table, and geographical revenue distribution.</a:t>
            </a:r>
          </a:p>
          <a:p>
            <a:pPr>
              <a:spcAft>
                <a:spcPts val="600"/>
              </a:spcAft>
              <a:defRPr sz="1100">
                <a:solidFill>
                  <a:srgbClr val="232D3C"/>
                </a:solidFill>
              </a:defRPr>
            </a:pPr>
            <a:r>
              <a:t>• Customer Segmentation Engine: Don't just display segments — interactive 3D Plotly RFM scatter space + Real-Time Prediction Form for instant customer classification.</a:t>
            </a:r>
          </a:p>
          <a:p>
            <a:pPr>
              <a:spcAft>
                <a:spcPts val="600"/>
              </a:spcAft>
              <a:defRPr sz="1100">
                <a:solidFill>
                  <a:srgbClr val="232D3C"/>
                </a:solidFill>
              </a:defRPr>
            </a:pPr>
            <a:r>
              <a:t>• Smart Cross-Sell Recommender: Interactive product dropdown with slider for top-N complementary products displaying Confidence and Lift percentages.</a:t>
            </a:r>
          </a:p>
          <a:p>
            <a:pPr>
              <a:spcAft>
                <a:spcPts val="600"/>
              </a:spcAft>
              <a:defRPr sz="1100">
                <a:solidFill>
                  <a:srgbClr val="232D3C"/>
                </a:solidFill>
              </a:defRPr>
            </a:pPr>
            <a:r>
              <a:t>• Sales Demand Forecasting: Horizon selector (3-12 months) with historical-to-future projection ribbon and 95% confidence bands.</a:t>
            </a:r>
          </a:p>
        </p:txBody>
      </p:sp>
      <p:pic>
        <p:nvPicPr>
          <p:cNvPr id="7" name="Picture 6" descr="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4023360" cy="43613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7. Work to be Done (Remaining Tasks)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27235"/>
                </a:solidFill>
              </a:defRPr>
            </a:pPr>
            <a:r>
              <a:t>Upcoming Engineering &amp; Analytical Milestones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1. Predictive Customer Lifetime Value (CLV) &amp; Churn Scoring: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• Integrate probabilistic BG/NBD and Gamma-Gamma models to predict 90-day future purchasing frequency and exact churn probability for each customer.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2. Hybrid Recommender with Cold-Start Protection: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• Augment association rules with content-based semantic similarity (TF-IDF/embeddings on product titles) to handle new or low-volume catalog items.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3. Advanced Multi-Variate Demand Forecasting (Prophet / LightGBM):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• Incorporate external holiday events and macroeconomic indicators to capture non-linear demand spikes.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4. GenAI Retail Copilot Integration: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• Embed a natural language LLM assistant within Streamlit to automatically draft personalized email campaigns and summarize weekly sales trends.</a:t>
            </a:r>
          </a:p>
          <a:p>
            <a:pPr>
              <a:spcAft>
                <a:spcPts val="200"/>
              </a:spcAft>
              <a:defRPr sz="1300" b="1">
                <a:solidFill>
                  <a:srgbClr val="14233C"/>
                </a:solidFill>
              </a:defRPr>
            </a:pPr>
            <a:r>
              <a:t>5. Cloud Deployment &amp; CI/CD Pipeline:</a:t>
            </a:r>
          </a:p>
          <a:p>
            <a:pPr>
              <a:spcAft>
                <a:spcPts val="600"/>
              </a:spcAft>
              <a:defRPr sz="1200">
                <a:solidFill>
                  <a:srgbClr val="232D3C"/>
                </a:solidFill>
              </a:defRPr>
            </a:pPr>
            <a:r>
              <a:t>• Containerize the platform using Docker and deploy to Streamlit Community Cloud or AWS ECS with automated unit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8. Conclusion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27235"/>
                </a:solidFill>
              </a:defRPr>
            </a:pPr>
            <a:r>
              <a:t>Summary of Progress So Far</a:t>
            </a:r>
          </a:p>
          <a:p>
            <a:pPr>
              <a:spcAft>
                <a:spcPts val="1400"/>
              </a:spcAft>
              <a:defRPr sz="1300">
                <a:solidFill>
                  <a:srgbClr val="232D3C"/>
                </a:solidFill>
              </a:defRPr>
            </a:pPr>
            <a:r>
              <a:t>• Successfully built an end-to-end Machine Learning retail platform that replaces intuition with algorithmic business intelligence.</a:t>
            </a:r>
            <a:br/>
            <a:r>
              <a:t>• Formulated a robust 4-cluster RFM segmentation model (Silhouette = 0.44) with real-time classification capability.</a:t>
            </a:r>
            <a:br/>
            <a:r>
              <a:t>• Developed an FP-Growth recommendation system capable of mining actionable cross-selling item pairs with high lift and confidence.</a:t>
            </a:r>
            <a:br/>
            <a:r>
              <a:t>• Unified all models into an intuitive, high-performance Streamlit web interface with interactive 3D visualizations.</a:t>
            </a:r>
          </a:p>
          <a:p>
            <a:pPr>
              <a:defRPr sz="1500" b="1">
                <a:solidFill>
                  <a:srgbClr val="E27235"/>
                </a:solidFill>
              </a:defRPr>
            </a:pPr>
            <a:r>
              <a:t>Expected Business Outcomes &amp; Impact</a:t>
            </a:r>
          </a:p>
          <a:p>
            <a:pPr>
              <a:defRPr sz="1300">
                <a:solidFill>
                  <a:srgbClr val="232D3C"/>
                </a:solidFill>
              </a:defRPr>
            </a:pPr>
            <a:r>
              <a:t>• Higher Customer Retention: Automated win-back campaigns targeted at At-Risk segments reduce customer churn.</a:t>
            </a:r>
            <a:br/>
            <a:r>
              <a:t>• Increased Average Order Value (AOV): Complementary basket bundle recommendations drive higher checkout cart totals.</a:t>
            </a:r>
            <a:br/>
            <a:r>
              <a:t>• Lean Inventory Management: Reliable demand forecasting minimizes stockout losses while avoiding excessive holding costs.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440"/>
            <a:ext cx="548640" cy="237744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595360" cy="237744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rial"/>
              </a:defRPr>
            </a:pPr>
            <a:r>
              <a:t>9. References (IEEE Format)</a:t>
            </a:r>
          </a:p>
        </p:txBody>
      </p:sp>
      <p:pic>
        <p:nvPicPr>
          <p:cNvPr id="5" name="Picture 4" descr="page_1_0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868680" cy="103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  <a:latin typeface="Arial"/>
              </a:defRPr>
            </a:pPr>
            <a:r>
              <a:t>[1] R. Agrawal, T. Imieliński, and A. Swami, "Mining association rules between sets of items in large databases," in Proc. ACM SIGMOD Int. Conf. on Management of Data, 1993, pp. 207–216.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  <a:latin typeface="Arial"/>
              </a:defRPr>
            </a:pPr>
            <a:r>
              <a:t>[2] J. Han, J. Pei, and Y. Yin, "Mining frequent patterns without candidate generation," ACM SIGMOD Record, vol. 29, no. 2, pp. 1–12, 2000.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  <a:latin typeface="Arial"/>
              </a:defRPr>
            </a:pPr>
            <a:r>
              <a:t>[3] P. S. Fader, B. G. Hardie, and K. L. Lee, "Counting your customers the easy way: An alternative to the Pareto/NBD model," Marketing Science, vol. 24, no. 2, pp. 275–284, 2005.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  <a:latin typeface="Arial"/>
              </a:defRPr>
            </a:pPr>
            <a:r>
              <a:t>[4] A. M. Hughes, Strategic Database Marketing: The Masterplan for Starting and Managing a Profitable, Customer-Based Marketing Program. Chicago, IL: Probus Publishing, 1994.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  <a:latin typeface="Arial"/>
              </a:defRPr>
            </a:pPr>
            <a:r>
              <a:t>[5] D. Chen, S. L. Sain, and K. Guo, "Data mining for the online retail industry: A case study of RFM model-based customer segmentation using data mining," J. Database Mark. Cust. Strategy Manag., vol. 19, no. 3, pp. 197–208, 2012.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  <a:latin typeface="Arial"/>
              </a:defRPr>
            </a:pPr>
            <a:r>
              <a:t>[6] F. Pedregosa et al., "Scikit-learn: Machine learning in Python," Journal of Machine Learning Research, vol. 12, pp. 2825–2830, 2011.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731520" cy="640080"/>
          </a:xfrm>
          <a:prstGeom prst="rect">
            <a:avLst/>
          </a:prstGeom>
          <a:solidFill>
            <a:srgbClr val="E27235"/>
          </a:solidFill>
          <a:ln>
            <a:solidFill>
              <a:srgbClr val="E2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8412480" cy="640080"/>
          </a:xfrm>
          <a:prstGeom prst="rect">
            <a:avLst/>
          </a:prstGeom>
          <a:solidFill>
            <a:srgbClr val="93B1CE"/>
          </a:solidFill>
          <a:ln>
            <a:solidFill>
              <a:srgbClr val="93B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ge_0_0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548640"/>
            <a:ext cx="1280160" cy="15198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4233C"/>
                </a:solidFill>
                <a:latin typeface="Arial"/>
              </a:defRPr>
            </a:pPr>
            <a:r>
              <a:t>Thank You</a:t>
            </a:r>
          </a:p>
          <a:p>
            <a:pPr algn="ctr">
              <a:defRPr sz="1600">
                <a:solidFill>
                  <a:srgbClr val="64748B"/>
                </a:solidFill>
                <a:latin typeface="Arial"/>
              </a:defRPr>
            </a:pPr>
            <a:r>
              <a:t>Questions &amp; Suggestions Welcome</a:t>
            </a:r>
            <a:br/>
            <a:r>
              <a:t>Jaypee University of Engineering &amp; Technology, Guna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2205</Words>
  <Application>Microsoft Office PowerPoint</Application>
  <PresentationFormat>On-screen Show (4:3)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palak goyal</cp:lastModifiedBy>
  <cp:revision>1</cp:revision>
  <dcterms:created xsi:type="dcterms:W3CDTF">2013-01-27T09:14:16Z</dcterms:created>
  <dcterms:modified xsi:type="dcterms:W3CDTF">2026-09-05T14:10:15Z</dcterms:modified>
  <cp:category/>
</cp:coreProperties>
</file>